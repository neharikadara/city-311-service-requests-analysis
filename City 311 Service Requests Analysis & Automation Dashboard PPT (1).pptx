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58BF-C5E1-4B52-BD8A-FD1AD5779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D51F7-3CC3-4BB7-8291-B1789482E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20447-D6C7-43E1-AE88-1FB66CC9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76A3-ADC8-4477-8FC1-B9DD55D84908}" type="datetime1">
              <a:rPr lang="en-US" smtClean="0"/>
              <a:t>11/9/2025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E17B6-E7FC-473A-8D5F-0E6B838E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AF4E0-FDDB-42B9-862C-7BBC501C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573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6C8-0B4F-4655-A630-0B1D2540B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8B888-85E0-4D92-903E-C3FE7E870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48916-250B-4232-BD7D-571FDE79F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49BE-398D-479A-8A7E-5DDBCA61EDCB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BFB4-647C-4104-B6D4-3346051C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FA73F-2BE8-4370-AE90-58F4CE51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882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1446D-9FAC-4157-A41A-51675C8BE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709738"/>
            <a:ext cx="10570210" cy="275889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F8D4A-8F93-4399-9546-64F286400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4589463"/>
            <a:ext cx="1057021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2FD4-BF96-470C-8247-20DFAE1C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C193-4974-4A1F-9C63-07D595E30D66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75A2D-86C4-4467-BAB8-E9ED004D2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42A4D-D9B2-4C82-95E4-B86F9F5F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7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B3AA-8C30-429E-B934-AF122043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834E-691F-4728-88F5-A0C469669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7240" y="1825625"/>
            <a:ext cx="52425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76374-880F-4E25-9F88-79E3C1AB1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9BD69-B509-4FCE-95A8-ED03FFC8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A87F-28D4-4BF0-B81F-877A89DFD5AC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C287B-AE5B-490B-BF81-A50D7A2E8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C2246-303C-4A29-B6EA-E62CEDE6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575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FE79-D5BE-43E8-B6C5-2675B7F4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57814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D3A07-BA51-4113-902E-830A887D2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01812"/>
            <a:ext cx="5220335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320A9-E274-4E1B-B02D-9A3F510A1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7240" y="2825749"/>
            <a:ext cx="5220335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80D3A-C2A8-4B78-B7E2-4908C74B1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01812"/>
            <a:ext cx="5183188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5D84DD-9460-4B08-86AD-27486A940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825749"/>
            <a:ext cx="5183188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B0B7F8-282C-4210-AE7D-F35228BA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F1F3-208B-49A3-B337-9C8ACEB3E0E1}" type="datetime1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E343A9-1067-4DCF-BACC-1F7F3805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4E471-04DB-4DB5-8CC5-16B3FC88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15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87C0-272E-4E50-A316-78079B2B9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6C1C9-1F69-432A-858C-D828B56E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6CA6-7293-4AA2-A0E0-A3BF4416E786}" type="datetime1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D9A1B-D149-4B97-B161-3D7C9ADBC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3722F-8C88-4E54-8CD6-12D31A05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59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1B4EE-6DFC-45F3-9174-D913EB57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7016-7BCD-46FB-8EE3-AB6C369108B4}" type="datetime1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7F7DC-6DDE-4337-AD27-BBE7D542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58EA9-3AC4-421E-B133-1FA7757D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911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035BB-74CC-43E9-B71F-A5C05D17E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19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ADC9E-7845-4DB1-87E3-6FBFB2B03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925A8-2A07-43B9-B549-061F36849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92450"/>
            <a:ext cx="3994785" cy="27765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A9037-0564-43A1-8156-1D9932E1F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47011-1FFC-4EF8-9A2E-53B4AD2ADBD4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F0D40-D0E1-49C9-BE47-91BBC50A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129BD-890D-412E-9805-D29F4A0D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436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8ADB4-BA7B-42C2-9C6C-58B2763F8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5456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519B58-B546-4E6B-BE00-3D1D64DA8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A0AB8-41A9-4548-9B83-3EFF79A00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81275"/>
            <a:ext cx="3994785" cy="277977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B33ED-A015-4992-A004-33D41CFF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EB47-45B4-4EF5-A743-B4885DD2F060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29CDA-E85F-47D1-83B7-02A50DEBF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9625F-5352-4136-8AC4-F8899D00A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933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922F-6166-4009-A42D-027DC718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791CF-167D-446D-9F99-6976C986E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CA422-E040-4DE1-9DA5-C8D37C11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62538-DC4D-4667-96E5-B3278DDF8B12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13B0B-60E7-494E-91CB-055BC2690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8C554-7C1B-4D8F-9B6B-04492656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506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66EF0-6ED8-49A7-BDAD-E20A143FAE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CE9CD-90A9-44BA-B293-0662E077D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7DAE0-05C4-460B-B96D-BD183ED0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0548-5C08-4BE3-B63E-F2BB63B0B00C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3CA93-55C9-4AA3-89A0-55490F74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FD820-FF26-4325-816F-310C30F8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050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9B5B3C5-A599-465B-B2B9-866E8B2087CE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C84982-7DD0-43B1-8A2D-BFA4DF1B4E60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8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</a:extLst>
            </p:cNvPr>
            <p:cNvSpPr/>
            <p:nvPr/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</a:extLst>
            </p:cNvPr>
            <p:cNvSpPr/>
            <p:nvPr/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</a:extLst>
            </p:cNvPr>
            <p:cNvSpPr/>
            <p:nvPr/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</a:extLst>
            </p:cNvPr>
            <p:cNvSpPr/>
            <p:nvPr/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</a:extLst>
            </p:cNvPr>
            <p:cNvSpPr/>
            <p:nvPr/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</a:extLst>
            </p:cNvPr>
            <p:cNvSpPr/>
            <p:nvPr/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</a:extLst>
            </p:cNvPr>
            <p:cNvSpPr/>
            <p:nvPr/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</a:extLst>
            </p:cNvPr>
            <p:cNvSpPr/>
            <p:nvPr/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</a:extLst>
            </p:cNvPr>
            <p:cNvSpPr/>
            <p:nvPr/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</a:extLst>
            </p:cNvPr>
            <p:cNvSpPr/>
            <p:nvPr/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</a:extLst>
            </p:cNvPr>
            <p:cNvSpPr/>
            <p:nvPr/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</a:extLst>
            </p:cNvPr>
            <p:cNvSpPr/>
            <p:nvPr/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</a:extLst>
            </p:cNvPr>
            <p:cNvSpPr/>
            <p:nvPr/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</a:extLst>
            </p:cNvPr>
            <p:cNvSpPr/>
            <p:nvPr/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</a:extLst>
            </p:cNvPr>
            <p:cNvSpPr/>
            <p:nvPr/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C5EC6-E331-4312-AC12-56D55F7D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724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D24A4-5FEC-4062-8995-EB21925B3B40}" type="datetime1">
              <a:rPr lang="en-US" smtClean="0"/>
              <a:t>11/9/2025</a:t>
            </a:fld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7FC5D-92B2-4B4D-8111-6EDEF2806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8268"/>
            <a:ext cx="41148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104D-C777-4A6E-8A43-F94028E5E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315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3A74F-6169-4D30-A245-B46D738BE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77E64-7A05-44DA-81FA-6EF4806BB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25625"/>
            <a:ext cx="106591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69995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27" r:id="rId8"/>
    <p:sldLayoutId id="2147483728" r:id="rId9"/>
    <p:sldLayoutId id="2147483729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5AE7A5CB-A414-4FB0-9C45-C3AE235EB6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2FB9630-0009-454C-895E-9F9F7FFBE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628277-58E4-3361-8900-8785C6891D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5440" y="1606717"/>
            <a:ext cx="7565729" cy="2021631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City 311 Service Requests Analysis &amp; Automation Dashboard</a:t>
            </a:r>
            <a:endParaRPr lang="en-IN" sz="40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57420F-C316-29D2-4757-4E2C030B9F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2808" y="3726302"/>
            <a:ext cx="5699761" cy="1655762"/>
          </a:xfrm>
        </p:spPr>
        <p:txBody>
          <a:bodyPr>
            <a:normAutofit/>
          </a:bodyPr>
          <a:lstStyle/>
          <a:p>
            <a:r>
              <a:rPr lang="en-IN" sz="3200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Datawalkers</a:t>
            </a:r>
            <a:r>
              <a:rPr lang="en-IN" sz="32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Analyst Challenge – Dabot.ai</a:t>
            </a:r>
          </a:p>
          <a:p>
            <a:r>
              <a:rPr lang="en-I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Neharika Dara</a:t>
            </a:r>
          </a:p>
        </p:txBody>
      </p:sp>
      <p:grpSp>
        <p:nvGrpSpPr>
          <p:cNvPr id="70" name="decorative circles">
            <a:extLst>
              <a:ext uri="{FF2B5EF4-FFF2-40B4-BE49-F238E27FC236}">
                <a16:creationId xmlns:a16="http://schemas.microsoft.com/office/drawing/2014/main" id="{CA7F60F0-4189-4A06-B854-F8814DBE6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93625" y="927887"/>
            <a:ext cx="3205279" cy="2727847"/>
            <a:chOff x="7893625" y="927887"/>
            <a:chExt cx="3205279" cy="2727847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5A65339C-6883-4FCB-AC25-60BF77F0D9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93625" y="3428999"/>
              <a:ext cx="226735" cy="226735"/>
            </a:xfrm>
            <a:prstGeom prst="ellipse">
              <a:avLst/>
            </a:prstGeom>
            <a:solidFill>
              <a:srgbClr val="9744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83A15511-6659-4EE2-931C-B0227234C5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1704" y="3100522"/>
              <a:ext cx="466441" cy="466441"/>
            </a:xfrm>
            <a:prstGeom prst="ellipse">
              <a:avLst/>
            </a:prstGeom>
            <a:solidFill>
              <a:schemeClr val="tx2">
                <a:lumMod val="50000"/>
                <a:lumOff val="50000"/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199F1B68-EF5C-45DB-BFD7-B7E8122B02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35619" y="2962081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4E3098AE-BFC1-4ADB-9766-5C4E4228AD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04744" y="927887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C9C012BB-2960-463D-A0EC-AECEED842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07963" y="1870595"/>
              <a:ext cx="346588" cy="34658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9C05C75C-137B-47A9-91BF-916F3D72A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07963" y="2560850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8" name="Oval 2">
            <a:extLst>
              <a:ext uri="{FF2B5EF4-FFF2-40B4-BE49-F238E27FC236}">
                <a16:creationId xmlns:a16="http://schemas.microsoft.com/office/drawing/2014/main" id="{6606163E-3503-48C8-8D38-D639D92A4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0676" y="2906802"/>
            <a:ext cx="4051324" cy="3951198"/>
          </a:xfrm>
          <a:custGeom>
            <a:avLst/>
            <a:gdLst>
              <a:gd name="connsiteX0" fmla="*/ 2361523 w 4051324"/>
              <a:gd name="connsiteY0" fmla="*/ 0 h 3951198"/>
              <a:gd name="connsiteX1" fmla="*/ 4031372 w 4051324"/>
              <a:gd name="connsiteY1" fmla="*/ 691674 h 3951198"/>
              <a:gd name="connsiteX2" fmla="*/ 4051324 w 4051324"/>
              <a:gd name="connsiteY2" fmla="*/ 713627 h 3951198"/>
              <a:gd name="connsiteX3" fmla="*/ 4051324 w 4051324"/>
              <a:gd name="connsiteY3" fmla="*/ 3951198 h 3951198"/>
              <a:gd name="connsiteX4" fmla="*/ 618807 w 4051324"/>
              <a:gd name="connsiteY4" fmla="*/ 3951198 h 3951198"/>
              <a:gd name="connsiteX5" fmla="*/ 539257 w 4051324"/>
              <a:gd name="connsiteY5" fmla="*/ 3863671 h 3951198"/>
              <a:gd name="connsiteX6" fmla="*/ 0 w 4051324"/>
              <a:gd name="connsiteY6" fmla="*/ 2361523 h 3951198"/>
              <a:gd name="connsiteX7" fmla="*/ 2361523 w 4051324"/>
              <a:gd name="connsiteY7" fmla="*/ 0 h 3951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51324" h="3951198">
                <a:moveTo>
                  <a:pt x="2361523" y="0"/>
                </a:moveTo>
                <a:cubicBezTo>
                  <a:pt x="3013639" y="0"/>
                  <a:pt x="3604020" y="264323"/>
                  <a:pt x="4031372" y="691674"/>
                </a:cubicBezTo>
                <a:lnTo>
                  <a:pt x="4051324" y="713627"/>
                </a:lnTo>
                <a:lnTo>
                  <a:pt x="4051324" y="3951198"/>
                </a:lnTo>
                <a:lnTo>
                  <a:pt x="618807" y="3951198"/>
                </a:lnTo>
                <a:lnTo>
                  <a:pt x="539257" y="3863671"/>
                </a:lnTo>
                <a:cubicBezTo>
                  <a:pt x="202372" y="3455461"/>
                  <a:pt x="0" y="2932125"/>
                  <a:pt x="0" y="2361523"/>
                </a:cubicBezTo>
                <a:cubicBezTo>
                  <a:pt x="0" y="1057290"/>
                  <a:pt x="1057290" y="0"/>
                  <a:pt x="236152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Oval 1">
            <a:extLst>
              <a:ext uri="{FF2B5EF4-FFF2-40B4-BE49-F238E27FC236}">
                <a16:creationId xmlns:a16="http://schemas.microsoft.com/office/drawing/2014/main" id="{4A13945F-5DE7-4A7F-88E8-D68DD7939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51869" y="1"/>
            <a:ext cx="3252489" cy="2962080"/>
          </a:xfrm>
          <a:custGeom>
            <a:avLst/>
            <a:gdLst>
              <a:gd name="connsiteX0" fmla="*/ 572886 w 2661680"/>
              <a:gd name="connsiteY0" fmla="*/ 0 h 2424023"/>
              <a:gd name="connsiteX1" fmla="*/ 2088794 w 2661680"/>
              <a:gd name="connsiteY1" fmla="*/ 0 h 2424023"/>
              <a:gd name="connsiteX2" fmla="*/ 2177378 w 2661680"/>
              <a:gd name="connsiteY2" fmla="*/ 66242 h 2424023"/>
              <a:gd name="connsiteX3" fmla="*/ 2661680 w 2661680"/>
              <a:gd name="connsiteY3" fmla="*/ 1093183 h 2424023"/>
              <a:gd name="connsiteX4" fmla="*/ 1330840 w 2661680"/>
              <a:gd name="connsiteY4" fmla="*/ 2424023 h 2424023"/>
              <a:gd name="connsiteX5" fmla="*/ 0 w 2661680"/>
              <a:gd name="connsiteY5" fmla="*/ 1093183 h 2424023"/>
              <a:gd name="connsiteX6" fmla="*/ 484302 w 2661680"/>
              <a:gd name="connsiteY6" fmla="*/ 66242 h 2424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61680" h="2424023">
                <a:moveTo>
                  <a:pt x="572886" y="0"/>
                </a:moveTo>
                <a:lnTo>
                  <a:pt x="2088794" y="0"/>
                </a:lnTo>
                <a:lnTo>
                  <a:pt x="2177378" y="66242"/>
                </a:lnTo>
                <a:cubicBezTo>
                  <a:pt x="2473153" y="310338"/>
                  <a:pt x="2661680" y="679744"/>
                  <a:pt x="2661680" y="1093183"/>
                </a:cubicBezTo>
                <a:cubicBezTo>
                  <a:pt x="2661680" y="1828186"/>
                  <a:pt x="2065843" y="2424023"/>
                  <a:pt x="1330840" y="2424023"/>
                </a:cubicBezTo>
                <a:cubicBezTo>
                  <a:pt x="595837" y="2424023"/>
                  <a:pt x="0" y="1828186"/>
                  <a:pt x="0" y="1093183"/>
                </a:cubicBezTo>
                <a:cubicBezTo>
                  <a:pt x="0" y="679744"/>
                  <a:pt x="188527" y="310338"/>
                  <a:pt x="484302" y="6624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A cityscape with a white circle with numbers and a city in the background&#10;&#10;AI-generated content may be incorrect.">
            <a:extLst>
              <a:ext uri="{FF2B5EF4-FFF2-40B4-BE49-F238E27FC236}">
                <a16:creationId xmlns:a16="http://schemas.microsoft.com/office/drawing/2014/main" id="{BF3F4003-68F4-8026-9CAA-9D3924AA6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2366" y="248025"/>
            <a:ext cx="2064869" cy="2064869"/>
          </a:xfrm>
          <a:prstGeom prst="rect">
            <a:avLst/>
          </a:prstGeom>
        </p:spPr>
      </p:pic>
      <p:pic>
        <p:nvPicPr>
          <p:cNvPr id="82" name="Graphic 81">
            <a:extLst>
              <a:ext uri="{FF2B5EF4-FFF2-40B4-BE49-F238E27FC236}">
                <a16:creationId xmlns:a16="http://schemas.microsoft.com/office/drawing/2014/main" id="{67247D7A-6779-4A7B-AB5D-9109D8610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8631" t="18963" r="52721" b="17441"/>
          <a:stretch/>
        </p:blipFill>
        <p:spPr>
          <a:xfrm>
            <a:off x="10854666" y="0"/>
            <a:ext cx="1334286" cy="2962082"/>
          </a:xfrm>
          <a:prstGeom prst="rect">
            <a:avLst/>
          </a:prstGeom>
        </p:spPr>
      </p:pic>
      <p:pic>
        <p:nvPicPr>
          <p:cNvPr id="5" name="Picture 4" descr="A blue and black logo&#10;&#10;AI-generated content may be incorrect.">
            <a:extLst>
              <a:ext uri="{FF2B5EF4-FFF2-40B4-BE49-F238E27FC236}">
                <a16:creationId xmlns:a16="http://schemas.microsoft.com/office/drawing/2014/main" id="{85D1E695-2E2F-E0D3-14C0-EFB7BFD8E7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811" y="4801958"/>
            <a:ext cx="3102760" cy="77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367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8F8788-D434-9B12-ED8B-79C40BFDE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234D1A15-52C4-4151-BA8D-73D049DE0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C6DFE5E-3206-4380-98DE-B761F58E3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9629B9-372C-CC6C-608C-F2D30D0BA8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191" y="180749"/>
            <a:ext cx="5699761" cy="1019926"/>
          </a:xfrm>
        </p:spPr>
        <p:txBody>
          <a:bodyPr>
            <a:normAutofit/>
          </a:bodyPr>
          <a:lstStyle/>
          <a:p>
            <a:pPr algn="l"/>
            <a:r>
              <a:rPr lang="en-IN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673664-974C-84EA-1A34-641214C784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92131"/>
            <a:ext cx="7178817" cy="5265869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: </a:t>
            </a:r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150K+ city service requests (311 data) to uncover patterns in citizen issues, agency workloads, and response performance.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improve service delivery, identify bottlenecks, and enhance transparency through automation.</a:t>
            </a:r>
          </a:p>
          <a:p>
            <a:pPr algn="l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Summary 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City 311 Open Service Requests Dataset</a:t>
            </a:r>
          </a:p>
          <a:p>
            <a:pPr algn="l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After Cleaning: 150,244 cases</a:t>
            </a:r>
          </a:p>
          <a:p>
            <a:pPr algn="l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Range: Dec 2017 – Mar 2018</a:t>
            </a:r>
          </a:p>
          <a:p>
            <a:pPr algn="l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Attributes: 24 validated fields (e.g., Category, Agency,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Neighborhood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Resolution Time)</a:t>
            </a:r>
          </a:p>
          <a:p>
            <a:pPr algn="l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Quality: 99 % mapped cases | 0 duplicates | Cleaned missing values (logic = –1 for open requests)</a:t>
            </a:r>
          </a:p>
          <a:p>
            <a:pPr algn="l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Approach :</a:t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→ Data Cleaning &amp; Validation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→ Dashboard Visualization &amp; Automation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→ KPIs &amp; Time Calculations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Automate → Alert Integration</a:t>
            </a:r>
          </a:p>
          <a:p>
            <a:pPr algn="l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2" name="decorative circles">
            <a:extLst>
              <a:ext uri="{FF2B5EF4-FFF2-40B4-BE49-F238E27FC236}">
                <a16:creationId xmlns:a16="http://schemas.microsoft.com/office/drawing/2014/main" id="{5E60D5B4-3F31-4064-A6B4-C17D8B4C2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132461" y="220046"/>
            <a:ext cx="3455469" cy="4723381"/>
            <a:chOff x="8132461" y="220046"/>
            <a:chExt cx="3455469" cy="4723381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1216AC7-EEB1-4A88-BB0D-F55F71A33E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1858" y="4716692"/>
              <a:ext cx="226735" cy="226735"/>
            </a:xfrm>
            <a:prstGeom prst="ellipse">
              <a:avLst/>
            </a:prstGeom>
            <a:solidFill>
              <a:srgbClr val="9744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36D93F05-5317-4B64-9958-4BC83FCA32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23226" y="4129921"/>
              <a:ext cx="466441" cy="46644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3DB0B10-6E16-4223-929C-B54E768366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2461" y="4194350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04D9FA3-5945-4633-A1DC-8240260C1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04744" y="220046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42B8E59F-FE2E-4D33-AD82-6496826C6C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41342" y="397053"/>
              <a:ext cx="346588" cy="34658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8C33DBE-C9D7-4333-9D99-7E6CB44290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41342" y="108730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 descr="A cityscape with a white circle with numbers and a city in the background&#10;&#10;AI-generated content may be incorrect.">
            <a:extLst>
              <a:ext uri="{FF2B5EF4-FFF2-40B4-BE49-F238E27FC236}">
                <a16:creationId xmlns:a16="http://schemas.microsoft.com/office/drawing/2014/main" id="{780ED068-840D-0938-5A7C-EC192E47F7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-3"/>
          <a:stretch>
            <a:fillRect/>
          </a:stretch>
        </p:blipFill>
        <p:spPr>
          <a:xfrm>
            <a:off x="7181865" y="262975"/>
            <a:ext cx="3486122" cy="3486122"/>
          </a:xfrm>
          <a:custGeom>
            <a:avLst/>
            <a:gdLst/>
            <a:ahLst/>
            <a:cxnLst/>
            <a:rect l="l" t="t" r="r" b="b"/>
            <a:pathLst>
              <a:path w="3111160" h="3111160">
                <a:moveTo>
                  <a:pt x="1555580" y="0"/>
                </a:moveTo>
                <a:cubicBezTo>
                  <a:pt x="2414703" y="0"/>
                  <a:pt x="3111160" y="696457"/>
                  <a:pt x="3111160" y="1555580"/>
                </a:cubicBezTo>
                <a:cubicBezTo>
                  <a:pt x="3111160" y="2414703"/>
                  <a:pt x="2414703" y="3111160"/>
                  <a:pt x="1555580" y="3111160"/>
                </a:cubicBezTo>
                <a:cubicBezTo>
                  <a:pt x="696457" y="3111160"/>
                  <a:pt x="0" y="2414703"/>
                  <a:pt x="0" y="1555580"/>
                </a:cubicBezTo>
                <a:cubicBezTo>
                  <a:pt x="0" y="696457"/>
                  <a:pt x="696457" y="0"/>
                  <a:pt x="1555580" y="0"/>
                </a:cubicBezTo>
                <a:close/>
              </a:path>
            </a:pathLst>
          </a:cu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2DC0F69C-B2BA-43F0-9DEB-47089F1A8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8631" t="18963" r="52721" b="17441"/>
          <a:stretch/>
        </p:blipFill>
        <p:spPr>
          <a:xfrm>
            <a:off x="10854666" y="1087308"/>
            <a:ext cx="1334286" cy="2962082"/>
          </a:xfrm>
          <a:prstGeom prst="rect">
            <a:avLst/>
          </a:prstGeom>
        </p:spPr>
      </p:pic>
      <p:pic>
        <p:nvPicPr>
          <p:cNvPr id="5" name="Picture 4" descr="A blue and black logo&#10;&#10;AI-generated content may be incorrect.">
            <a:extLst>
              <a:ext uri="{FF2B5EF4-FFF2-40B4-BE49-F238E27FC236}">
                <a16:creationId xmlns:a16="http://schemas.microsoft.com/office/drawing/2014/main" id="{C56726D6-4BF5-13FF-FCCF-908787A347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05" r="38861" b="-1"/>
          <a:stretch>
            <a:fillRect/>
          </a:stretch>
        </p:blipFill>
        <p:spPr>
          <a:xfrm>
            <a:off x="9148852" y="3890061"/>
            <a:ext cx="3043153" cy="2967943"/>
          </a:xfrm>
          <a:custGeom>
            <a:avLst/>
            <a:gdLst/>
            <a:ahLst/>
            <a:cxnLst/>
            <a:rect l="l" t="t" r="r" b="b"/>
            <a:pathLst>
              <a:path w="3043153" h="2967943">
                <a:moveTo>
                  <a:pt x="1773859" y="0"/>
                </a:moveTo>
                <a:cubicBezTo>
                  <a:pt x="2263696" y="0"/>
                  <a:pt x="2707161" y="198546"/>
                  <a:pt x="3028166" y="519551"/>
                </a:cubicBezTo>
                <a:lnTo>
                  <a:pt x="3043153" y="536041"/>
                </a:lnTo>
                <a:lnTo>
                  <a:pt x="3043153" y="2967943"/>
                </a:lnTo>
                <a:lnTo>
                  <a:pt x="464817" y="2967943"/>
                </a:lnTo>
                <a:lnTo>
                  <a:pt x="405063" y="2902197"/>
                </a:lnTo>
                <a:cubicBezTo>
                  <a:pt x="152012" y="2595570"/>
                  <a:pt x="0" y="2202466"/>
                  <a:pt x="0" y="1773859"/>
                </a:cubicBezTo>
                <a:cubicBezTo>
                  <a:pt x="0" y="794184"/>
                  <a:pt x="794184" y="0"/>
                  <a:pt x="1773859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60961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8D374B-8008-EFA7-7FBF-ED9166A7C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9B5B3C5-A599-465B-B2B9-866E8B208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C84982-7DD0-43B1-8A2D-BFA4DF1B4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6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31BB6ABA-2AFF-41E9-9180-553B03EF7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5780857-0188-4DD9-A1AA-43132A072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37" name="Decorative Circles">
            <a:extLst>
              <a:ext uri="{FF2B5EF4-FFF2-40B4-BE49-F238E27FC236}">
                <a16:creationId xmlns:a16="http://schemas.microsoft.com/office/drawing/2014/main" id="{0EDDE3AB-6A94-4236-9AD6-C32489024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484" y="236341"/>
            <a:ext cx="10677791" cy="4262956"/>
            <a:chOff x="767484" y="236341"/>
            <a:chExt cx="10677791" cy="4262956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F5F95240-88BE-4AA0-9320-2EE58ED2D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49767" y="3283228"/>
              <a:ext cx="226735" cy="22673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5A541B77-CC79-455A-87E4-C60E7019A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54608" y="498500"/>
              <a:ext cx="466441" cy="46644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2E6867B3-E468-4C8B-B855-B4A67F6A4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90699" y="236341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BC1A1CF2-0925-45A0-8320-4AFE5A4CB0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0448" y="3803994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39247E7B-5D86-4EFA-ADC1-0FD9416258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67484" y="2755518"/>
              <a:ext cx="466441" cy="466441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CDD4DB1-9698-4C16-9E4F-849B56A82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31908" y="3813254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0053701-5CD6-449F-9679-AA83B6EB10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75095" y="3592374"/>
              <a:ext cx="305780" cy="3057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117064B8-D7E1-4230-AF61-C3534B9950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94104" y="4385930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7" name="Oval 2">
            <a:extLst>
              <a:ext uri="{FF2B5EF4-FFF2-40B4-BE49-F238E27FC236}">
                <a16:creationId xmlns:a16="http://schemas.microsoft.com/office/drawing/2014/main" id="{55A3C032-2B82-431F-9CFA-304E62D5A2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474" y="305966"/>
            <a:ext cx="2051331" cy="205133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1">
            <a:extLst>
              <a:ext uri="{FF2B5EF4-FFF2-40B4-BE49-F238E27FC236}">
                <a16:creationId xmlns:a16="http://schemas.microsoft.com/office/drawing/2014/main" id="{3988C41D-73E8-4695-86BD-D06A420A0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88269" y="0"/>
            <a:ext cx="3403731" cy="2935728"/>
          </a:xfrm>
          <a:custGeom>
            <a:avLst/>
            <a:gdLst>
              <a:gd name="connsiteX0" fmla="*/ 288659 w 3192131"/>
              <a:gd name="connsiteY0" fmla="*/ 0 h 2753222"/>
              <a:gd name="connsiteX1" fmla="*/ 3192131 w 3192131"/>
              <a:gd name="connsiteY1" fmla="*/ 0 h 2753222"/>
              <a:gd name="connsiteX2" fmla="*/ 3192131 w 3192131"/>
              <a:gd name="connsiteY2" fmla="*/ 2058956 h 2753222"/>
              <a:gd name="connsiteX3" fmla="*/ 3158043 w 3192131"/>
              <a:gd name="connsiteY3" fmla="*/ 2104541 h 2753222"/>
              <a:gd name="connsiteX4" fmla="*/ 1782545 w 3192131"/>
              <a:gd name="connsiteY4" fmla="*/ 2753222 h 2753222"/>
              <a:gd name="connsiteX5" fmla="*/ 0 w 3192131"/>
              <a:gd name="connsiteY5" fmla="*/ 970677 h 2753222"/>
              <a:gd name="connsiteX6" fmla="*/ 215144 w 3192131"/>
              <a:gd name="connsiteY6" fmla="*/ 121011 h 2753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2131" h="2753222">
                <a:moveTo>
                  <a:pt x="288659" y="0"/>
                </a:moveTo>
                <a:lnTo>
                  <a:pt x="3192131" y="0"/>
                </a:lnTo>
                <a:lnTo>
                  <a:pt x="3192131" y="2058956"/>
                </a:lnTo>
                <a:lnTo>
                  <a:pt x="3158043" y="2104541"/>
                </a:lnTo>
                <a:cubicBezTo>
                  <a:pt x="2831098" y="2500707"/>
                  <a:pt x="2336311" y="2753222"/>
                  <a:pt x="1782545" y="2753222"/>
                </a:cubicBezTo>
                <a:cubicBezTo>
                  <a:pt x="798073" y="2753222"/>
                  <a:pt x="0" y="1955149"/>
                  <a:pt x="0" y="970677"/>
                </a:cubicBezTo>
                <a:cubicBezTo>
                  <a:pt x="0" y="663030"/>
                  <a:pt x="77937" y="373585"/>
                  <a:pt x="215144" y="12101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129C20-FFE3-0489-1087-6E66D8218A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0388" y="-3592"/>
            <a:ext cx="5782804" cy="163479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kern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from the Analysis</a:t>
            </a:r>
            <a:endParaRPr lang="en-US" sz="4400" b="1" kern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cityscape with a white circle with numbers and a city in the background&#10;&#10;AI-generated content may be incorrect.">
            <a:extLst>
              <a:ext uri="{FF2B5EF4-FFF2-40B4-BE49-F238E27FC236}">
                <a16:creationId xmlns:a16="http://schemas.microsoft.com/office/drawing/2014/main" id="{8BF90064-A16C-2EB7-2425-FABD24C6E5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-3"/>
          <a:stretch>
            <a:fillRect/>
          </a:stretch>
        </p:blipFill>
        <p:spPr>
          <a:xfrm>
            <a:off x="853108" y="621521"/>
            <a:ext cx="1360306" cy="1360306"/>
          </a:xfrm>
          <a:prstGeom prst="rect">
            <a:avLst/>
          </a:prstGeom>
        </p:spPr>
      </p:pic>
      <p:pic>
        <p:nvPicPr>
          <p:cNvPr id="5" name="Picture 4" descr="A blue and black logo&#10;&#10;AI-generated content may be incorrect.">
            <a:extLst>
              <a:ext uri="{FF2B5EF4-FFF2-40B4-BE49-F238E27FC236}">
                <a16:creationId xmlns:a16="http://schemas.microsoft.com/office/drawing/2014/main" id="{3609DA99-BB9E-C5BC-65A7-3F7A72F41C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05" r="38861" b="-1"/>
          <a:stretch>
            <a:fillRect/>
          </a:stretch>
        </p:blipFill>
        <p:spPr>
          <a:xfrm>
            <a:off x="9583562" y="123618"/>
            <a:ext cx="2110293" cy="2058119"/>
          </a:xfrm>
          <a:prstGeom prst="rect">
            <a:avLst/>
          </a:prstGeom>
        </p:spPr>
      </p:pic>
      <p:sp>
        <p:nvSpPr>
          <p:cNvPr id="51" name="Oval 3">
            <a:extLst>
              <a:ext uri="{FF2B5EF4-FFF2-40B4-BE49-F238E27FC236}">
                <a16:creationId xmlns:a16="http://schemas.microsoft.com/office/drawing/2014/main" id="{9F122CA7-A50D-4BAE-B7FB-C9E73537B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 rot="16200000">
            <a:off x="-639576" y="4068576"/>
            <a:ext cx="2914772" cy="1635620"/>
          </a:xfrm>
          <a:custGeom>
            <a:avLst/>
            <a:gdLst>
              <a:gd name="connsiteX0" fmla="*/ 18128 w 4408870"/>
              <a:gd name="connsiteY0" fmla="*/ 0 h 2474031"/>
              <a:gd name="connsiteX1" fmla="*/ 4390742 w 4408870"/>
              <a:gd name="connsiteY1" fmla="*/ 0 h 2474031"/>
              <a:gd name="connsiteX2" fmla="*/ 4397489 w 4408870"/>
              <a:gd name="connsiteY2" fmla="*/ 44205 h 2474031"/>
              <a:gd name="connsiteX3" fmla="*/ 4408870 w 4408870"/>
              <a:gd name="connsiteY3" fmla="*/ 269596 h 2474031"/>
              <a:gd name="connsiteX4" fmla="*/ 2204435 w 4408870"/>
              <a:gd name="connsiteY4" fmla="*/ 2474031 h 2474031"/>
              <a:gd name="connsiteX5" fmla="*/ 0 w 4408870"/>
              <a:gd name="connsiteY5" fmla="*/ 269596 h 2474031"/>
              <a:gd name="connsiteX6" fmla="*/ 11381 w 4408870"/>
              <a:gd name="connsiteY6" fmla="*/ 44205 h 2474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8870" h="2474031">
                <a:moveTo>
                  <a:pt x="18128" y="0"/>
                </a:moveTo>
                <a:lnTo>
                  <a:pt x="4390742" y="0"/>
                </a:lnTo>
                <a:lnTo>
                  <a:pt x="4397489" y="44205"/>
                </a:lnTo>
                <a:cubicBezTo>
                  <a:pt x="4405015" y="118312"/>
                  <a:pt x="4408870" y="193504"/>
                  <a:pt x="4408870" y="269596"/>
                </a:cubicBezTo>
                <a:cubicBezTo>
                  <a:pt x="4408870" y="1487072"/>
                  <a:pt x="3421911" y="2474031"/>
                  <a:pt x="2204435" y="2474031"/>
                </a:cubicBezTo>
                <a:cubicBezTo>
                  <a:pt x="986959" y="2474031"/>
                  <a:pt x="0" y="1487072"/>
                  <a:pt x="0" y="269596"/>
                </a:cubicBezTo>
                <a:cubicBezTo>
                  <a:pt x="0" y="193504"/>
                  <a:pt x="3855" y="118312"/>
                  <a:pt x="11381" y="44205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6295024C-2255-4722-92A0-BBEB0E5C6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5737" t="12146" r="12288" b="12942"/>
          <a:stretch/>
        </p:blipFill>
        <p:spPr>
          <a:xfrm>
            <a:off x="0" y="3409035"/>
            <a:ext cx="1633210" cy="2914772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4AC5B21F-4C6C-E496-B165-20AF8786D7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23097" y="1635162"/>
            <a:ext cx="7319257" cy="50992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Volume &amp; Trends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150K service requests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 recorded within 4 months.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peaks in January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gradually declines toward March.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reports occur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8 AM – 4 PM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active working hours.</a:t>
            </a:r>
          </a:p>
          <a:p>
            <a:pPr algn="l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 Behavior &amp; Issue Types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top concerns are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Street &amp; Sidewalk Cleaning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Homeless Concerns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Illegal Dumping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three categories represent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~60 % of total complaints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showing public focus on sanitation and safety.</a:t>
            </a:r>
          </a:p>
          <a:p>
            <a:pPr algn="l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Agency Workload &amp; Efficiency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DPW Ops Queue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handles the highest number of cases (62K+), maintaining strong resolution efficiency.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DPH Homeless Outreach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faces longer average times (~59 days), reflecting complex case types.</a:t>
            </a:r>
          </a:p>
          <a:p>
            <a:pPr algn="l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Oval 4">
            <a:extLst>
              <a:ext uri="{FF2B5EF4-FFF2-40B4-BE49-F238E27FC236}">
                <a16:creationId xmlns:a16="http://schemas.microsoft.com/office/drawing/2014/main" id="{8DF4C2C2-3120-46FC-BA52-462716863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9994790" y="4395253"/>
            <a:ext cx="2216879" cy="2462747"/>
          </a:xfrm>
          <a:custGeom>
            <a:avLst/>
            <a:gdLst>
              <a:gd name="connsiteX0" fmla="*/ 2133985 w 3086667"/>
              <a:gd name="connsiteY0" fmla="*/ 0 h 3429000"/>
              <a:gd name="connsiteX1" fmla="*/ 2964628 w 3086667"/>
              <a:gd name="connsiteY1" fmla="*/ 167699 h 3429000"/>
              <a:gd name="connsiteX2" fmla="*/ 3086667 w 3086667"/>
              <a:gd name="connsiteY2" fmla="*/ 226489 h 3429000"/>
              <a:gd name="connsiteX3" fmla="*/ 3086667 w 3086667"/>
              <a:gd name="connsiteY3" fmla="*/ 3429000 h 3429000"/>
              <a:gd name="connsiteX4" fmla="*/ 440639 w 3086667"/>
              <a:gd name="connsiteY4" fmla="*/ 3429000 h 3429000"/>
              <a:gd name="connsiteX5" fmla="*/ 364451 w 3086667"/>
              <a:gd name="connsiteY5" fmla="*/ 3327116 h 3429000"/>
              <a:gd name="connsiteX6" fmla="*/ 0 w 3086667"/>
              <a:gd name="connsiteY6" fmla="*/ 2133985 h 3429000"/>
              <a:gd name="connsiteX7" fmla="*/ 2133985 w 3086667"/>
              <a:gd name="connsiteY7" fmla="*/ 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86667" h="3429000">
                <a:moveTo>
                  <a:pt x="2133985" y="0"/>
                </a:moveTo>
                <a:cubicBezTo>
                  <a:pt x="2428627" y="0"/>
                  <a:pt x="2709322" y="59714"/>
                  <a:pt x="2964628" y="167699"/>
                </a:cubicBezTo>
                <a:lnTo>
                  <a:pt x="3086667" y="226489"/>
                </a:lnTo>
                <a:lnTo>
                  <a:pt x="3086667" y="3429000"/>
                </a:lnTo>
                <a:lnTo>
                  <a:pt x="440639" y="3429000"/>
                </a:lnTo>
                <a:lnTo>
                  <a:pt x="364451" y="3327116"/>
                </a:lnTo>
                <a:cubicBezTo>
                  <a:pt x="134356" y="2986530"/>
                  <a:pt x="0" y="2575948"/>
                  <a:pt x="0" y="2133985"/>
                </a:cubicBezTo>
                <a:cubicBezTo>
                  <a:pt x="0" y="955418"/>
                  <a:pt x="955418" y="0"/>
                  <a:pt x="2133985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48FF6A38-AD1A-4432-81C1-57E507C0F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567" t="10613" r="29637" b="25876"/>
          <a:stretch/>
        </p:blipFill>
        <p:spPr>
          <a:xfrm>
            <a:off x="9862024" y="4436150"/>
            <a:ext cx="2356469" cy="242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63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D0F97-313F-AAFC-8B95-03988C7D2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445" y="340469"/>
            <a:ext cx="10659110" cy="963038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 Highlights</a:t>
            </a:r>
            <a:br>
              <a:rPr lang="en-IN" dirty="0"/>
            </a:b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A9F995C-1375-68BD-053E-8647E0485A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277" y="821988"/>
            <a:ext cx="3722883" cy="21494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55CC19-8D26-D921-96BF-43FDEE3B8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0252" y="2953504"/>
            <a:ext cx="3185748" cy="18660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7BBA76-7E50-6124-CF13-6C3AE7B80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6" y="4742025"/>
            <a:ext cx="4068953" cy="19940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7E799A-E5DF-1A8A-FE47-B9CBAD5DB76C}"/>
              </a:ext>
            </a:extLst>
          </p:cNvPr>
          <p:cNvSpPr txBox="1"/>
          <p:nvPr/>
        </p:nvSpPr>
        <p:spPr>
          <a:xfrm>
            <a:off x="6221715" y="905232"/>
            <a:ext cx="587300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Visuals Displayed:</a:t>
            </a:r>
          </a:p>
          <a:p>
            <a:endParaRPr lang="en-US" sz="1400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Cards: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Requests, Open Cases, Closed Cases, Avg Resolution (Days), Delayed Cases, Open &gt;7 Days.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Trends: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Request volume by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Weekday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Breakdown: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Agency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Type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Geographical Mapping: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99 % of requests successfully mapped to Latitude/Longitude.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 in Action:</a:t>
            </a:r>
          </a:p>
          <a:p>
            <a:endParaRPr lang="en-US" sz="1400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Trends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Peak in January indicates seasonal demand or increased reporting after holidays.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Hourly Trend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Most issues are logged during business hours (8 AM – 4 PM).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Agencies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DPW Ops Queue dominates workload yet maintains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Categories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Street &amp; Sidewalk Cleaning leads overall request volume.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Design :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Arrange screenshots from your Power BI pages like a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gallery layout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row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KPI cards + Monthly Trend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 row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Weekday + Hourly Trend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Bottom row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Category + Agency chart + Map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 built in Power BI provides real-time visibility into service performance, enabling data-driven decision making.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09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6B9D1-DA56-CCBD-97C1-CF0E8957E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60" y="131445"/>
            <a:ext cx="10659110" cy="96583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 &amp; Automation (Smart Features)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FB5A0-CF53-B1B7-8253-06E0654C8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8718" y="1012825"/>
            <a:ext cx="6781202" cy="571373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proactive monitoring system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automatically detects performance issues and notifies stakeholders without manual tracking.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Configured Alerts (in Power BI Service):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&gt; 7 Days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triggers when backlog crosses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38,000 cases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 Sends an automated email via Power Automate.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Cases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notifies when delayed requests exceed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2,800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 Helps supervisors act on overdue issues quickly.</a:t>
            </a:r>
          </a:p>
          <a:p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Resolution Time &gt; 5 Days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identifies slow performance trends.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 Helps agencies monitor long-response tasks.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Automation </a:t>
            </a:r>
            <a:r>
              <a:rPr lang="en-US" sz="17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Setup</a:t>
            </a:r>
            <a:r>
              <a:rPr lang="en-US" sz="18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Data Alerts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Automate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notifications.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Emails are automatically sent to supervisors when thresholds are breached.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refresh is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scheduled daily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keep alerts up to date.</a:t>
            </a:r>
          </a:p>
          <a:p>
            <a:pPr marL="0" indent="0">
              <a:buNone/>
            </a:pPr>
            <a:r>
              <a:rPr lang="en-US" sz="17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tracking efforts.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faster issue resolution and accountability.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Dabot.ai’s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“AI + Automation”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initiative for smarter city management.</a:t>
            </a:r>
          </a:p>
          <a:p>
            <a:pPr marL="0" indent="0"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transforms the dashboard from a static report into a live monitoring system — enabling real-time insights and smarter decision-making.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D56B77-5EE4-B571-0984-BA3DB88FF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" y="923616"/>
            <a:ext cx="4988560" cy="25053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41226E-4069-B3C2-BD4F-D7D09B3E9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79" y="3542168"/>
            <a:ext cx="4988559" cy="318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872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3D846-34A1-1688-71AD-76EA059E7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660" y="-14923"/>
            <a:ext cx="11028680" cy="939483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&amp; 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D2C70-C5C9-F7F7-0F15-F6F36F316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670" y="822960"/>
            <a:ext cx="11408410" cy="58724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Recommendations: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High-Volume Categories: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more resources on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Street Cleaning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Homeless Concerns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they make up nearly 60% of total 311 requests.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Agency Workload: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DPW Ops Queue handles the largest share. Rebalancing staff or automating common tasks can improve turnaround.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Long-Resolution Agencies: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DPH Homeless Outreach and permitting-related requests require targeted support or multi-department coordination.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Alerts for Early Intervention: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automated Power BI alerts help detect service delays before they grow into larger operational issues.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Achieved: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view of city service performance (150K+ cases analyzed).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response monitoring via daily automated alerts.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manual workload through automation.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 for predictive analytics and smart-city forecasting.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Enhancements: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streaming data from APIs.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AI models to predict service demand and resolution delays.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spatial clustering to identify “hotspot” neighbourhoods for quicker action.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how data-driven decision making and automation can transform public service efficiency enabling smarter, faster, and more responsive city operations.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8501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9B5B3C5-A599-465B-B2B9-866E8B208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C84982-7DD0-43B1-8A2D-BFA4DF1B4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3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D767E3F-5FD8-43EF-92CC-71463D47E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3326BAA-9686-4D37-B702-A459A43F9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71FB6B-251B-2E89-A4EB-ABCDA0E58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028" y="1961459"/>
            <a:ext cx="5455131" cy="205259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</p:txBody>
      </p:sp>
      <p:sp>
        <p:nvSpPr>
          <p:cNvPr id="34" name="Oval 1">
            <a:extLst>
              <a:ext uri="{FF2B5EF4-FFF2-40B4-BE49-F238E27FC236}">
                <a16:creationId xmlns:a16="http://schemas.microsoft.com/office/drawing/2014/main" id="{AB330529-CB1E-4112-8F01-435C2E299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91411" y="557332"/>
            <a:ext cx="5743337" cy="57433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decorative circles">
            <a:extLst>
              <a:ext uri="{FF2B5EF4-FFF2-40B4-BE49-F238E27FC236}">
                <a16:creationId xmlns:a16="http://schemas.microsoft.com/office/drawing/2014/main" id="{A6BAEEFE-5A15-4E44-B100-CFD7F5D6D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062" y="289695"/>
            <a:ext cx="4971115" cy="6138399"/>
            <a:chOff x="6870062" y="289695"/>
            <a:chExt cx="4971115" cy="6138399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9F653A2A-2CD3-4B8D-B1DB-0B410110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543605" y="289695"/>
              <a:ext cx="226735" cy="226735"/>
            </a:xfrm>
            <a:prstGeom prst="ellipse">
              <a:avLst/>
            </a:prstGeom>
            <a:solidFill>
              <a:srgbClr val="9744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7B14CA02-0561-4C97-8FF3-95C5A56793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74736" y="5667686"/>
              <a:ext cx="466441" cy="46644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5D1DCF05-9A46-4ED2-9213-6762C6975A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27805" y="5275653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7C2DFB0F-9C5B-42B4-A4C5-1C4308E5E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69847" y="5942894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09002102-7C3F-4562-B6C9-B6662E8A2A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81540" y="655922"/>
              <a:ext cx="466441" cy="466441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38ABC509-D5C1-4B54-88A3-76D47A1AEC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03560" y="387281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69564177-4282-4F98-81F4-F758FF774D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163367" y="6122314"/>
              <a:ext cx="305780" cy="30578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2B760430-7B8B-4E35-A89B-197E329999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70062" y="5959435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D31DC705-4939-F6AF-9554-DF2C566BA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59476" y="1650594"/>
            <a:ext cx="3607206" cy="360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753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ConfettiVTI">
  <a:themeElements>
    <a:clrScheme name="Custom 30">
      <a:dk1>
        <a:sysClr val="windowText" lastClr="000000"/>
      </a:dk1>
      <a:lt1>
        <a:sysClr val="window" lastClr="FFFFFF"/>
      </a:lt1>
      <a:dk2>
        <a:srgbClr val="420023"/>
      </a:dk2>
      <a:lt2>
        <a:srgbClr val="FDFBF9"/>
      </a:lt2>
      <a:accent1>
        <a:srgbClr val="97446E"/>
      </a:accent1>
      <a:accent2>
        <a:srgbClr val="A40056"/>
      </a:accent2>
      <a:accent3>
        <a:srgbClr val="24BEEE"/>
      </a:accent3>
      <a:accent4>
        <a:srgbClr val="91274F"/>
      </a:accent4>
      <a:accent5>
        <a:srgbClr val="F39E29"/>
      </a:accent5>
      <a:accent6>
        <a:srgbClr val="E87450"/>
      </a:accent6>
      <a:hlink>
        <a:srgbClr val="F55D5D"/>
      </a:hlink>
      <a:folHlink>
        <a:srgbClr val="EA3A60"/>
      </a:folHlink>
    </a:clrScheme>
    <a:fontScheme name="Custom 10">
      <a:majorFont>
        <a:latin typeface="Gill Sans Nov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nfettiVTI" id="{B5618F7C-B4F0-4D28-83B4-440D0519681F}" vid="{5F84EFDF-E14E-48C6-955C-990A32085A7F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858</Words>
  <Application>Microsoft Office PowerPoint</Application>
  <PresentationFormat>Widescreen</PresentationFormat>
  <Paragraphs>77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Gill Sans Nova</vt:lpstr>
      <vt:lpstr>Times New Roman</vt:lpstr>
      <vt:lpstr>Wingdings</vt:lpstr>
      <vt:lpstr>ConfettiVTI</vt:lpstr>
      <vt:lpstr>City 311 Service Requests Analysis &amp; Automation Dashboard</vt:lpstr>
      <vt:lpstr>Project Overview</vt:lpstr>
      <vt:lpstr>Key Insights from the Analysis</vt:lpstr>
      <vt:lpstr>Power BI Dashboard Highlights </vt:lpstr>
      <vt:lpstr>Alerts &amp; Automation (Smart Features)</vt:lpstr>
      <vt:lpstr>Recommendations &amp; Future Enhancements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Dara, Neharika</dc:creator>
  <cp:lastModifiedBy>Dara, Neharika</cp:lastModifiedBy>
  <cp:revision>4</cp:revision>
  <dcterms:created xsi:type="dcterms:W3CDTF">2025-11-09T23:06:49Z</dcterms:created>
  <dcterms:modified xsi:type="dcterms:W3CDTF">2025-11-10T00:02:28Z</dcterms:modified>
</cp:coreProperties>
</file>